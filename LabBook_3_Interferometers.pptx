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89" r:id="rId3"/>
    <p:sldId id="290" r:id="rId4"/>
    <p:sldId id="298" r:id="rId5"/>
    <p:sldId id="297" r:id="rId6"/>
    <p:sldId id="299" r:id="rId7"/>
    <p:sldId id="300" r:id="rId8"/>
    <p:sldId id="295" r:id="rId9"/>
    <p:sldId id="296" r:id="rId10"/>
    <p:sldId id="293" r:id="rId11"/>
    <p:sldId id="301" r:id="rId12"/>
    <p:sldId id="302"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6" autoAdjust="0"/>
    <p:restoredTop sz="95033" autoAdjust="0"/>
  </p:normalViewPr>
  <p:slideViewPr>
    <p:cSldViewPr>
      <p:cViewPr varScale="1">
        <p:scale>
          <a:sx n="83" d="100"/>
          <a:sy n="83" d="100"/>
        </p:scale>
        <p:origin x="888" y="77"/>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cccanvas-upv/pic-upv-lab3.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20.pn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dirty="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4"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BD6555E-E3D5-39C0-AFE4-FD927670FD60}"/>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29A4B70D-599D-93A6-A5F6-C7529C0A2A84}"/>
              </a:ext>
            </a:extLst>
          </p:cNvPr>
          <p:cNvSpPr>
            <a:spLocks noGrp="1"/>
          </p:cNvSpPr>
          <p:nvPr>
            <p:ph type="sldNum" sz="quarter" idx="7"/>
          </p:nvPr>
        </p:nvSpPr>
        <p:spPr/>
        <p:txBody>
          <a:bodyPr/>
          <a:lstStyle/>
          <a:p>
            <a:fld id="{B6F15528-21DE-4FAA-801E-634DDDAF4B2B}" type="slidenum">
              <a:rPr lang="ca-ES" smtClean="0"/>
              <a:t>4</a:t>
            </a:fld>
            <a:endParaRPr lang="ca-ES"/>
          </a:p>
        </p:txBody>
      </p:sp>
      <p:pic>
        <p:nvPicPr>
          <p:cNvPr id="7" name="Imagen 6" descr="Gráfico&#10;&#10;El contenido generado por IA puede ser incorrecto.">
            <a:extLst>
              <a:ext uri="{FF2B5EF4-FFF2-40B4-BE49-F238E27FC236}">
                <a16:creationId xmlns:a16="http://schemas.microsoft.com/office/drawing/2014/main" id="{A17AFB7C-58E1-1201-9BF1-DA96E85F25BF}"/>
              </a:ext>
            </a:extLst>
          </p:cNvPr>
          <p:cNvPicPr>
            <a:picLocks noChangeAspect="1"/>
          </p:cNvPicPr>
          <p:nvPr/>
        </p:nvPicPr>
        <p:blipFill>
          <a:blip r:embed="rId2"/>
          <a:stretch>
            <a:fillRect/>
          </a:stretch>
        </p:blipFill>
        <p:spPr>
          <a:xfrm>
            <a:off x="2805216" y="1143000"/>
            <a:ext cx="4599477" cy="3690938"/>
          </a:xfrm>
          <a:prstGeom prst="rect">
            <a:avLst/>
          </a:prstGeom>
        </p:spPr>
      </p:pic>
      <p:sp>
        <p:nvSpPr>
          <p:cNvPr id="8" name="CuadroTexto 7">
            <a:extLst>
              <a:ext uri="{FF2B5EF4-FFF2-40B4-BE49-F238E27FC236}">
                <a16:creationId xmlns:a16="http://schemas.microsoft.com/office/drawing/2014/main" id="{233D4B5B-CC94-B198-CC69-8F4D89C9D18E}"/>
              </a:ext>
            </a:extLst>
          </p:cNvPr>
          <p:cNvSpPr txBox="1"/>
          <p:nvPr/>
        </p:nvSpPr>
        <p:spPr>
          <a:xfrm>
            <a:off x="457200" y="2738200"/>
            <a:ext cx="2343398" cy="369332"/>
          </a:xfrm>
          <a:prstGeom prst="rect">
            <a:avLst/>
          </a:prstGeom>
          <a:noFill/>
        </p:spPr>
        <p:txBody>
          <a:bodyPr wrap="none" rtlCol="0">
            <a:spAutoFit/>
          </a:bodyPr>
          <a:lstStyle/>
          <a:p>
            <a:r>
              <a:rPr lang="es-ES" dirty="0" err="1"/>
              <a:t>Balanced</a:t>
            </a:r>
            <a:r>
              <a:rPr lang="es-ES" dirty="0"/>
              <a:t> </a:t>
            </a:r>
            <a:r>
              <a:rPr lang="es-ES" dirty="0" err="1"/>
              <a:t>configuration</a:t>
            </a:r>
            <a:endParaRPr lang="es-ES"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8EC23D7C-2644-7A5F-54B8-D1F8524FDF7E}"/>
                  </a:ext>
                </a:extLst>
              </p:cNvPr>
              <p:cNvSpPr txBox="1"/>
              <p:nvPr/>
            </p:nvSpPr>
            <p:spPr>
              <a:xfrm>
                <a:off x="7390839" y="1371600"/>
                <a:ext cx="4599478" cy="3139321"/>
              </a:xfrm>
              <a:prstGeom prst="rect">
                <a:avLst/>
              </a:prstGeom>
              <a:noFill/>
            </p:spPr>
            <p:txBody>
              <a:bodyPr wrap="square" rtlCol="0">
                <a:spAutoFit/>
              </a:bodyPr>
              <a:lstStyle/>
              <a:p>
                <a:r>
                  <a:rPr lang="es-ES" dirty="0"/>
                  <a:t>En la configuración balanceada ambos brazos tienen la misma longitud y la misma constante de propagación, por lo tanto, </a:t>
                </a:r>
                <a14:m>
                  <m:oMath xmlns:m="http://schemas.openxmlformats.org/officeDocument/2006/math">
                    <m:r>
                      <a:rPr lang="es-ES"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𝜙</m:t>
                    </m:r>
                    <m:r>
                      <a:rPr lang="es-ES" b="0" i="1" smtClean="0">
                        <a:latin typeface="Cambria Math" panose="02040503050406030204" pitchFamily="18" charset="0"/>
                        <a:ea typeface="Cambria Math" panose="02040503050406030204" pitchFamily="18" charset="0"/>
                      </a:rPr>
                      <m:t>=0</m:t>
                    </m:r>
                  </m:oMath>
                </a14:m>
                <a:r>
                  <a:rPr lang="es-ES" dirty="0"/>
                  <a:t>. Para una constante de propagación </a:t>
                </a:r>
                <a14:m>
                  <m:oMath xmlns:m="http://schemas.openxmlformats.org/officeDocument/2006/math">
                    <m:r>
                      <a:rPr lang="es-ES" b="0" i="1" smtClean="0">
                        <a:latin typeface="Cambria Math" panose="02040503050406030204" pitchFamily="18" charset="0"/>
                      </a:rPr>
                      <m:t>𝐾</m:t>
                    </m:r>
                    <m:r>
                      <a:rPr lang="es-ES" b="0" i="1" smtClean="0">
                        <a:latin typeface="Cambria Math" panose="02040503050406030204" pitchFamily="18" charset="0"/>
                      </a:rPr>
                      <m:t>=0.5</m:t>
                    </m:r>
                  </m:oMath>
                </a14:m>
                <a:r>
                  <a:rPr lang="es-ES" dirty="0"/>
                  <a:t> y </a:t>
                </a:r>
                <a14:m>
                  <m:oMath xmlns:m="http://schemas.openxmlformats.org/officeDocument/2006/math">
                    <m:r>
                      <a:rPr lang="es-ES" i="1" smtClean="0">
                        <a:latin typeface="Cambria Math" panose="02040503050406030204" pitchFamily="18" charset="0"/>
                        <a:ea typeface="Cambria Math" panose="02040503050406030204" pitchFamily="18" charset="0"/>
                      </a:rPr>
                      <m:t>𝛾</m:t>
                    </m:r>
                    <m:r>
                      <a:rPr lang="es-ES" b="0" i="1" smtClean="0">
                        <a:latin typeface="Cambria Math" panose="02040503050406030204" pitchFamily="18" charset="0"/>
                        <a:ea typeface="Cambria Math" panose="02040503050406030204" pitchFamily="18" charset="0"/>
                      </a:rPr>
                      <m:t>=0</m:t>
                    </m:r>
                  </m:oMath>
                </a14:m>
                <a:r>
                  <a:rPr lang="es-ES" dirty="0"/>
                  <a:t>, si la luz entra por el brazo de arriba (2), como se puede ver en la gráfica, toda la luz se irá por el brazo de abajo, por eso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𝐻</m:t>
                        </m:r>
                      </m:e>
                      <m:sub>
                        <m:r>
                          <a:rPr lang="es-ES" b="0" i="1" smtClean="0">
                            <a:latin typeface="Cambria Math" panose="02040503050406030204" pitchFamily="18" charset="0"/>
                          </a:rPr>
                          <m:t>21</m:t>
                        </m:r>
                      </m:sub>
                    </m:sSub>
                    <m:r>
                      <a:rPr lang="es-ES" b="0" i="1" smtClean="0">
                        <a:latin typeface="Cambria Math" panose="02040503050406030204" pitchFamily="18" charset="0"/>
                      </a:rPr>
                      <m:t>=1 </m:t>
                    </m:r>
                    <m:r>
                      <a:rPr lang="es-ES" b="0" i="1" smtClean="0">
                        <a:latin typeface="Cambria Math" panose="02040503050406030204" pitchFamily="18" charset="0"/>
                      </a:rPr>
                      <m:t>𝑦</m:t>
                    </m:r>
                    <m:sSub>
                      <m:sSubPr>
                        <m:ctrlPr>
                          <a:rPr lang="es-ES" i="1">
                            <a:latin typeface="Cambria Math" panose="02040503050406030204" pitchFamily="18" charset="0"/>
                          </a:rPr>
                        </m:ctrlPr>
                      </m:sSubPr>
                      <m:e>
                        <m:r>
                          <a:rPr lang="es-ES" i="1">
                            <a:latin typeface="Cambria Math" panose="02040503050406030204" pitchFamily="18" charset="0"/>
                          </a:rPr>
                          <m:t>𝐻</m:t>
                        </m:r>
                      </m:e>
                      <m:sub>
                        <m:r>
                          <a:rPr lang="es-ES" i="1">
                            <a:latin typeface="Cambria Math" panose="02040503050406030204" pitchFamily="18" charset="0"/>
                          </a:rPr>
                          <m:t>21</m:t>
                        </m:r>
                      </m:sub>
                    </m:sSub>
                    <m:r>
                      <a:rPr lang="es-ES" i="1">
                        <a:latin typeface="Cambria Math" panose="02040503050406030204" pitchFamily="18" charset="0"/>
                      </a:rPr>
                      <m:t>=</m:t>
                    </m:r>
                    <m:r>
                      <a:rPr lang="es-ES" b="0" i="1" smtClean="0">
                        <a:latin typeface="Cambria Math" panose="02040503050406030204" pitchFamily="18" charset="0"/>
                      </a:rPr>
                      <m:t>0</m:t>
                    </m:r>
                  </m:oMath>
                </a14:m>
                <a:r>
                  <a:rPr lang="es-ES" dirty="0"/>
                  <a:t>. Con esto llegamos a la conclusión de que la luz siempre se irá por el brazo contrario por el que entró si tenemos una configuración balanceada.</a:t>
                </a:r>
              </a:p>
            </p:txBody>
          </p:sp>
        </mc:Choice>
        <mc:Fallback>
          <p:sp>
            <p:nvSpPr>
              <p:cNvPr id="2" name="CuadroTexto 1">
                <a:extLst>
                  <a:ext uri="{FF2B5EF4-FFF2-40B4-BE49-F238E27FC236}">
                    <a16:creationId xmlns:a16="http://schemas.microsoft.com/office/drawing/2014/main" id="{8EC23D7C-2644-7A5F-54B8-D1F8524FDF7E}"/>
                  </a:ext>
                </a:extLst>
              </p:cNvPr>
              <p:cNvSpPr txBox="1">
                <a:spLocks noRot="1" noChangeAspect="1" noMove="1" noResize="1" noEditPoints="1" noAdjustHandles="1" noChangeArrowheads="1" noChangeShapeType="1" noTextEdit="1"/>
              </p:cNvSpPr>
              <p:nvPr/>
            </p:nvSpPr>
            <p:spPr>
              <a:xfrm>
                <a:off x="7390839" y="1371600"/>
                <a:ext cx="4599478" cy="3139321"/>
              </a:xfrm>
              <a:prstGeom prst="rect">
                <a:avLst/>
              </a:prstGeom>
              <a:blipFill>
                <a:blip r:embed="rId3"/>
                <a:stretch>
                  <a:fillRect l="-1060" t="-971" r="-1722" b="-2136"/>
                </a:stretch>
              </a:blipFill>
            </p:spPr>
            <p:txBody>
              <a:bodyPr/>
              <a:lstStyle/>
              <a:p>
                <a:r>
                  <a:rPr lang="es-ES">
                    <a:noFill/>
                  </a:rPr>
                  <a:t> </a:t>
                </a:r>
              </a:p>
            </p:txBody>
          </p:sp>
        </mc:Fallback>
      </mc:AlternateContent>
    </p:spTree>
    <p:extLst>
      <p:ext uri="{BB962C8B-B14F-4D97-AF65-F5344CB8AC3E}">
        <p14:creationId xmlns:p14="http://schemas.microsoft.com/office/powerpoint/2010/main" val="3118275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556CF977-C53F-A605-52DD-410D257834F3}"/>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1EA6E899-4F63-88FF-1B06-8C11EC9AAA63}"/>
              </a:ext>
            </a:extLst>
          </p:cNvPr>
          <p:cNvSpPr>
            <a:spLocks noGrp="1"/>
          </p:cNvSpPr>
          <p:nvPr>
            <p:ph type="sldNum" sz="quarter" idx="7"/>
          </p:nvPr>
        </p:nvSpPr>
        <p:spPr/>
        <p:txBody>
          <a:bodyPr/>
          <a:lstStyle/>
          <a:p>
            <a:fld id="{B6F15528-21DE-4FAA-801E-634DDDAF4B2B}" type="slidenum">
              <a:rPr lang="ca-ES" smtClean="0"/>
              <a:t>5</a:t>
            </a:fld>
            <a:endParaRPr lang="ca-ES"/>
          </a:p>
        </p:txBody>
      </p:sp>
      <p:sp>
        <p:nvSpPr>
          <p:cNvPr id="8" name="CuadroTexto 7">
            <a:extLst>
              <a:ext uri="{FF2B5EF4-FFF2-40B4-BE49-F238E27FC236}">
                <a16:creationId xmlns:a16="http://schemas.microsoft.com/office/drawing/2014/main" id="{E10A9F36-7DB0-0076-ACB2-E19DC4B639C9}"/>
              </a:ext>
            </a:extLst>
          </p:cNvPr>
          <p:cNvSpPr txBox="1"/>
          <p:nvPr/>
        </p:nvSpPr>
        <p:spPr>
          <a:xfrm>
            <a:off x="381000" y="1447800"/>
            <a:ext cx="1727268" cy="369332"/>
          </a:xfrm>
          <a:prstGeom prst="rect">
            <a:avLst/>
          </a:prstGeom>
          <a:noFill/>
        </p:spPr>
        <p:txBody>
          <a:bodyPr wrap="none" rtlCol="0">
            <a:spAutoFit/>
          </a:bodyPr>
          <a:lstStyle/>
          <a:p>
            <a:r>
              <a:rPr lang="es-ES" dirty="0" err="1"/>
              <a:t>Delay</a:t>
            </a:r>
            <a:r>
              <a:rPr lang="es-ES" dirty="0"/>
              <a:t> </a:t>
            </a:r>
            <a:r>
              <a:rPr lang="es-ES" dirty="0" err="1"/>
              <a:t>imbalance</a:t>
            </a:r>
            <a:endParaRPr lang="es-ES" dirty="0"/>
          </a:p>
        </p:txBody>
      </p:sp>
      <p:pic>
        <p:nvPicPr>
          <p:cNvPr id="10" name="Imagen 9" descr="Gráfico, Gráfico de líneas&#10;&#10;El contenido generado por IA puede ser incorrecto.">
            <a:extLst>
              <a:ext uri="{FF2B5EF4-FFF2-40B4-BE49-F238E27FC236}">
                <a16:creationId xmlns:a16="http://schemas.microsoft.com/office/drawing/2014/main" id="{6D59EBCF-1FAF-CC7B-6E5E-966F16638571}"/>
              </a:ext>
            </a:extLst>
          </p:cNvPr>
          <p:cNvPicPr>
            <a:picLocks noChangeAspect="1"/>
          </p:cNvPicPr>
          <p:nvPr/>
        </p:nvPicPr>
        <p:blipFill>
          <a:blip r:embed="rId2"/>
          <a:stretch>
            <a:fillRect/>
          </a:stretch>
        </p:blipFill>
        <p:spPr>
          <a:xfrm>
            <a:off x="2256179" y="91797"/>
            <a:ext cx="3839821" cy="3081338"/>
          </a:xfrm>
          <a:prstGeom prst="rect">
            <a:avLst/>
          </a:prstGeom>
        </p:spPr>
      </p:pic>
      <p:pic>
        <p:nvPicPr>
          <p:cNvPr id="14" name="Imagen 13" descr="Gráfico, Gráfico de líneas&#10;&#10;El contenido generado por IA puede ser incorrecto.">
            <a:extLst>
              <a:ext uri="{FF2B5EF4-FFF2-40B4-BE49-F238E27FC236}">
                <a16:creationId xmlns:a16="http://schemas.microsoft.com/office/drawing/2014/main" id="{CC92D4F3-612A-FB07-8598-657F75D0FD73}"/>
              </a:ext>
            </a:extLst>
          </p:cNvPr>
          <p:cNvPicPr>
            <a:picLocks noChangeAspect="1"/>
          </p:cNvPicPr>
          <p:nvPr/>
        </p:nvPicPr>
        <p:blipFill>
          <a:blip r:embed="rId3"/>
          <a:stretch>
            <a:fillRect/>
          </a:stretch>
        </p:blipFill>
        <p:spPr>
          <a:xfrm>
            <a:off x="2445654" y="3173135"/>
            <a:ext cx="3839821" cy="3033192"/>
          </a:xfrm>
          <a:prstGeom prst="rect">
            <a:avLst/>
          </a:prstGeom>
        </p:spPr>
      </p:pic>
      <p:sp>
        <p:nvSpPr>
          <p:cNvPr id="15" name="CuadroTexto 14">
            <a:extLst>
              <a:ext uri="{FF2B5EF4-FFF2-40B4-BE49-F238E27FC236}">
                <a16:creationId xmlns:a16="http://schemas.microsoft.com/office/drawing/2014/main" id="{BC2ED5DD-41A3-88E8-B9EF-5F135AA39537}"/>
              </a:ext>
            </a:extLst>
          </p:cNvPr>
          <p:cNvSpPr txBox="1"/>
          <p:nvPr/>
        </p:nvSpPr>
        <p:spPr>
          <a:xfrm>
            <a:off x="553163" y="4445764"/>
            <a:ext cx="1744580" cy="369332"/>
          </a:xfrm>
          <a:prstGeom prst="rect">
            <a:avLst/>
          </a:prstGeom>
          <a:noFill/>
        </p:spPr>
        <p:txBody>
          <a:bodyPr wrap="none" rtlCol="0">
            <a:spAutoFit/>
          </a:bodyPr>
          <a:lstStyle/>
          <a:p>
            <a:r>
              <a:rPr lang="es-ES" dirty="0" err="1"/>
              <a:t>Phase</a:t>
            </a:r>
            <a:r>
              <a:rPr lang="es-ES" dirty="0"/>
              <a:t> </a:t>
            </a:r>
            <a:r>
              <a:rPr lang="es-ES" dirty="0" err="1"/>
              <a:t>difference</a:t>
            </a:r>
            <a:endParaRPr lang="es-ES"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3FB98C24-FE3D-84C8-7FC4-81AD975626A9}"/>
                  </a:ext>
                </a:extLst>
              </p:cNvPr>
              <p:cNvSpPr txBox="1"/>
              <p:nvPr/>
            </p:nvSpPr>
            <p:spPr>
              <a:xfrm>
                <a:off x="6283166" y="762000"/>
                <a:ext cx="5867400" cy="1477328"/>
              </a:xfrm>
              <a:prstGeom prst="rect">
                <a:avLst/>
              </a:prstGeom>
              <a:noFill/>
            </p:spPr>
            <p:txBody>
              <a:bodyPr wrap="square" rtlCol="0">
                <a:spAutoFit/>
              </a:bodyPr>
              <a:lstStyle/>
              <a:p>
                <a:r>
                  <a:rPr lang="es-ES" dirty="0"/>
                  <a:t>Para el </a:t>
                </a:r>
                <a:r>
                  <a:rPr lang="es-ES" dirty="0" err="1"/>
                  <a:t>delay</a:t>
                </a:r>
                <a:r>
                  <a:rPr lang="es-ES" dirty="0"/>
                  <a:t> </a:t>
                </a:r>
                <a:r>
                  <a:rPr lang="es-ES" dirty="0" err="1"/>
                  <a:t>imbalance</a:t>
                </a:r>
                <a:r>
                  <a:rPr lang="es-ES" dirty="0"/>
                  <a:t> lo único que cambia es que la longitud de cada brazo (se ha mantenido </a:t>
                </a:r>
                <a14:m>
                  <m:oMath xmlns:m="http://schemas.openxmlformats.org/officeDocument/2006/math">
                    <m:r>
                      <a:rPr lang="es-ES" i="1" smtClean="0">
                        <a:latin typeface="Cambria Math" panose="02040503050406030204" pitchFamily="18" charset="0"/>
                        <a:ea typeface="Cambria Math" panose="02040503050406030204" pitchFamily="18" charset="0"/>
                      </a:rPr>
                      <m:t>𝛽</m:t>
                    </m:r>
                  </m:oMath>
                </a14:m>
                <a:r>
                  <a:rPr lang="es-ES" dirty="0"/>
                  <a:t> igual) . Al crear una diferencia de longitudes </a:t>
                </a:r>
                <a14:m>
                  <m:oMath xmlns:m="http://schemas.openxmlformats.org/officeDocument/2006/math">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𝜙</m:t>
                    </m:r>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0</m:t>
                    </m:r>
                  </m:oMath>
                </a14:m>
                <a:r>
                  <a:rPr lang="es-ES" dirty="0"/>
                  <a:t>, dependiendo de la longitud de onda, cada brazo transmitirá una potencia diferente (siempre complementarias una de otra).</a:t>
                </a:r>
              </a:p>
            </p:txBody>
          </p:sp>
        </mc:Choice>
        <mc:Fallback>
          <p:sp>
            <p:nvSpPr>
              <p:cNvPr id="2" name="CuadroTexto 1">
                <a:extLst>
                  <a:ext uri="{FF2B5EF4-FFF2-40B4-BE49-F238E27FC236}">
                    <a16:creationId xmlns:a16="http://schemas.microsoft.com/office/drawing/2014/main" id="{3FB98C24-FE3D-84C8-7FC4-81AD975626A9}"/>
                  </a:ext>
                </a:extLst>
              </p:cNvPr>
              <p:cNvSpPr txBox="1">
                <a:spLocks noRot="1" noChangeAspect="1" noMove="1" noResize="1" noEditPoints="1" noAdjustHandles="1" noChangeArrowheads="1" noChangeShapeType="1" noTextEdit="1"/>
              </p:cNvSpPr>
              <p:nvPr/>
            </p:nvSpPr>
            <p:spPr>
              <a:xfrm>
                <a:off x="6283166" y="762000"/>
                <a:ext cx="5867400" cy="1477328"/>
              </a:xfrm>
              <a:prstGeom prst="rect">
                <a:avLst/>
              </a:prstGeom>
              <a:blipFill>
                <a:blip r:embed="rId4"/>
                <a:stretch>
                  <a:fillRect l="-936" t="-2066" b="-5785"/>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3" name="CuadroTexto 2">
                <a:extLst>
                  <a:ext uri="{FF2B5EF4-FFF2-40B4-BE49-F238E27FC236}">
                    <a16:creationId xmlns:a16="http://schemas.microsoft.com/office/drawing/2014/main" id="{6E9FE2B6-4B41-2B9B-CE1F-C512821E9075}"/>
                  </a:ext>
                </a:extLst>
              </p:cNvPr>
              <p:cNvSpPr txBox="1"/>
              <p:nvPr/>
            </p:nvSpPr>
            <p:spPr>
              <a:xfrm>
                <a:off x="6433386" y="3366655"/>
                <a:ext cx="5453814" cy="1754326"/>
              </a:xfrm>
              <a:prstGeom prst="rect">
                <a:avLst/>
              </a:prstGeom>
              <a:noFill/>
            </p:spPr>
            <p:txBody>
              <a:bodyPr wrap="square" rtlCol="0">
                <a:spAutoFit/>
              </a:bodyPr>
              <a:lstStyle/>
              <a:p>
                <a:r>
                  <a:rPr lang="es-ES" dirty="0"/>
                  <a:t>Para el pase </a:t>
                </a:r>
                <a:r>
                  <a:rPr lang="es-ES" dirty="0" err="1"/>
                  <a:t>difference</a:t>
                </a:r>
                <a:r>
                  <a:rPr lang="es-ES" dirty="0"/>
                  <a:t> se mantiene la misma longitud, pero se hace que cada brazo tenga una constante de propagación diferente. Vuelve a verse como ambos brazos son complementarios en todas las longitudes de onda, pero se ve de esa forma debido a los valores escogidos (ya dados) de </a:t>
                </a:r>
                <a14:m>
                  <m:oMath xmlns:m="http://schemas.openxmlformats.org/officeDocument/2006/math">
                    <m:r>
                      <a:rPr lang="es-ES" i="1">
                        <a:latin typeface="Cambria Math" panose="02040503050406030204" pitchFamily="18" charset="0"/>
                        <a:ea typeface="Cambria Math" panose="02040503050406030204" pitchFamily="18" charset="0"/>
                      </a:rPr>
                      <m:t>𝛽</m:t>
                    </m:r>
                  </m:oMath>
                </a14:m>
                <a:r>
                  <a:rPr lang="es-ES" dirty="0"/>
                  <a:t>. </a:t>
                </a:r>
              </a:p>
            </p:txBody>
          </p:sp>
        </mc:Choice>
        <mc:Fallback>
          <p:sp>
            <p:nvSpPr>
              <p:cNvPr id="3" name="CuadroTexto 2">
                <a:extLst>
                  <a:ext uri="{FF2B5EF4-FFF2-40B4-BE49-F238E27FC236}">
                    <a16:creationId xmlns:a16="http://schemas.microsoft.com/office/drawing/2014/main" id="{6E9FE2B6-4B41-2B9B-CE1F-C512821E9075}"/>
                  </a:ext>
                </a:extLst>
              </p:cNvPr>
              <p:cNvSpPr txBox="1">
                <a:spLocks noRot="1" noChangeAspect="1" noMove="1" noResize="1" noEditPoints="1" noAdjustHandles="1" noChangeArrowheads="1" noChangeShapeType="1" noTextEdit="1"/>
              </p:cNvSpPr>
              <p:nvPr/>
            </p:nvSpPr>
            <p:spPr>
              <a:xfrm>
                <a:off x="6433386" y="3366655"/>
                <a:ext cx="5453814" cy="1754326"/>
              </a:xfrm>
              <a:prstGeom prst="rect">
                <a:avLst/>
              </a:prstGeom>
              <a:blipFill>
                <a:blip r:embed="rId5"/>
                <a:stretch>
                  <a:fillRect l="-894" t="-1736" b="-4514"/>
                </a:stretch>
              </a:blipFill>
            </p:spPr>
            <p:txBody>
              <a:bodyPr/>
              <a:lstStyle/>
              <a:p>
                <a:r>
                  <a:rPr lang="es-ES">
                    <a:noFill/>
                  </a:rPr>
                  <a:t> </a:t>
                </a:r>
              </a:p>
            </p:txBody>
          </p:sp>
        </mc:Fallback>
      </mc:AlternateContent>
    </p:spTree>
    <p:extLst>
      <p:ext uri="{BB962C8B-B14F-4D97-AF65-F5344CB8AC3E}">
        <p14:creationId xmlns:p14="http://schemas.microsoft.com/office/powerpoint/2010/main" val="364984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FC6C06F4-58CF-2B32-1206-CCA03BB02E5E}"/>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48340DC7-27B4-95F5-61FD-65B790D158A7}"/>
              </a:ext>
            </a:extLst>
          </p:cNvPr>
          <p:cNvSpPr>
            <a:spLocks noGrp="1"/>
          </p:cNvSpPr>
          <p:nvPr>
            <p:ph type="sldNum" sz="quarter" idx="7"/>
          </p:nvPr>
        </p:nvSpPr>
        <p:spPr/>
        <p:txBody>
          <a:bodyPr/>
          <a:lstStyle/>
          <a:p>
            <a:fld id="{B6F15528-21DE-4FAA-801E-634DDDAF4B2B}" type="slidenum">
              <a:rPr lang="ca-ES" smtClean="0"/>
              <a:t>6</a:t>
            </a:fld>
            <a:endParaRPr lang="ca-ES"/>
          </a:p>
        </p:txBody>
      </p:sp>
      <p:pic>
        <p:nvPicPr>
          <p:cNvPr id="7" name="Imagen 6" descr="Gráfico, Gráfico de líneas&#10;&#10;El contenido generado por IA puede ser incorrecto.">
            <a:extLst>
              <a:ext uri="{FF2B5EF4-FFF2-40B4-BE49-F238E27FC236}">
                <a16:creationId xmlns:a16="http://schemas.microsoft.com/office/drawing/2014/main" id="{B718D54E-56B8-161E-43C2-4E0DDDB448D0}"/>
              </a:ext>
            </a:extLst>
          </p:cNvPr>
          <p:cNvPicPr>
            <a:picLocks noChangeAspect="1"/>
          </p:cNvPicPr>
          <p:nvPr/>
        </p:nvPicPr>
        <p:blipFill>
          <a:blip r:embed="rId2"/>
          <a:stretch>
            <a:fillRect/>
          </a:stretch>
        </p:blipFill>
        <p:spPr>
          <a:xfrm>
            <a:off x="3505200" y="378442"/>
            <a:ext cx="3614738" cy="2900716"/>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2FE5606-CF73-D8DB-EF6D-A638554CCECD}"/>
                  </a:ext>
                </a:extLst>
              </p:cNvPr>
              <p:cNvSpPr txBox="1"/>
              <p:nvPr/>
            </p:nvSpPr>
            <p:spPr>
              <a:xfrm>
                <a:off x="533400" y="1828800"/>
                <a:ext cx="2824299" cy="369332"/>
              </a:xfrm>
              <a:prstGeom prst="rect">
                <a:avLst/>
              </a:prstGeom>
              <a:noFill/>
            </p:spPr>
            <p:txBody>
              <a:bodyPr wrap="none" rtlCol="0">
                <a:spAutoFit/>
              </a:bodyPr>
              <a:lstStyle/>
              <a:p>
                <a:r>
                  <a:rPr lang="es-ES" dirty="0"/>
                  <a:t>Delay </a:t>
                </a:r>
                <a:r>
                  <a:rPr lang="es-ES" dirty="0" err="1"/>
                  <a:t>imbalance</a:t>
                </a:r>
                <a:r>
                  <a:rPr lang="es-ES" dirty="0"/>
                  <a:t> </a:t>
                </a:r>
                <a:r>
                  <a:rPr lang="es-ES" dirty="0" err="1"/>
                  <a:t>with</a:t>
                </a:r>
                <a:r>
                  <a:rPr lang="es-ES" dirty="0"/>
                  <a:t> </a:t>
                </a:r>
                <a14:m>
                  <m:oMath xmlns:m="http://schemas.openxmlformats.org/officeDocument/2006/math">
                    <m:r>
                      <a:rPr lang="es-ES" i="1" smtClean="0">
                        <a:latin typeface="Cambria Math" panose="02040503050406030204" pitchFamily="18" charset="0"/>
                        <a:ea typeface="Cambria Math" panose="02040503050406030204" pitchFamily="18" charset="0"/>
                      </a:rPr>
                      <m:t>𝛼</m:t>
                    </m:r>
                    <m:r>
                      <a:rPr lang="es-ES" i="1" smtClean="0">
                        <a:latin typeface="Cambria Math" panose="02040503050406030204" pitchFamily="18" charset="0"/>
                        <a:ea typeface="Cambria Math" panose="02040503050406030204" pitchFamily="18" charset="0"/>
                      </a:rPr>
                      <m:t>≠0</m:t>
                    </m:r>
                  </m:oMath>
                </a14:m>
                <a:endParaRPr lang="es-ES" dirty="0"/>
              </a:p>
            </p:txBody>
          </p:sp>
        </mc:Choice>
        <mc:Fallback xmlns="">
          <p:sp>
            <p:nvSpPr>
              <p:cNvPr id="12" name="CuadroTexto 11">
                <a:extLst>
                  <a:ext uri="{FF2B5EF4-FFF2-40B4-BE49-F238E27FC236}">
                    <a16:creationId xmlns:a16="http://schemas.microsoft.com/office/drawing/2014/main" id="{42FE5606-CF73-D8DB-EF6D-A638554CCECD}"/>
                  </a:ext>
                </a:extLst>
              </p:cNvPr>
              <p:cNvSpPr txBox="1">
                <a:spLocks noRot="1" noChangeAspect="1" noMove="1" noResize="1" noEditPoints="1" noAdjustHandles="1" noChangeArrowheads="1" noChangeShapeType="1" noTextEdit="1"/>
              </p:cNvSpPr>
              <p:nvPr/>
            </p:nvSpPr>
            <p:spPr>
              <a:xfrm>
                <a:off x="533400" y="1828800"/>
                <a:ext cx="2824299" cy="369332"/>
              </a:xfrm>
              <a:prstGeom prst="rect">
                <a:avLst/>
              </a:prstGeom>
              <a:blipFill>
                <a:blip r:embed="rId3"/>
                <a:stretch>
                  <a:fillRect l="-1944" t="-8197" b="-24590"/>
                </a:stretch>
              </a:blipFill>
            </p:spPr>
            <p:txBody>
              <a:bodyPr/>
              <a:lstStyle/>
              <a:p>
                <a:r>
                  <a:rPr lang="es-ES">
                    <a:noFill/>
                  </a:rPr>
                  <a:t> </a:t>
                </a:r>
              </a:p>
            </p:txBody>
          </p:sp>
        </mc:Fallback>
      </mc:AlternateContent>
      <p:pic>
        <p:nvPicPr>
          <p:cNvPr id="14" name="Imagen 13" descr="Gráfico, Gráfico de líneas&#10;&#10;El contenido generado por IA puede ser incorrecto.">
            <a:extLst>
              <a:ext uri="{FF2B5EF4-FFF2-40B4-BE49-F238E27FC236}">
                <a16:creationId xmlns:a16="http://schemas.microsoft.com/office/drawing/2014/main" id="{77A3A022-9398-282F-0F38-4577B2901B29}"/>
              </a:ext>
            </a:extLst>
          </p:cNvPr>
          <p:cNvPicPr>
            <a:picLocks noChangeAspect="1"/>
          </p:cNvPicPr>
          <p:nvPr/>
        </p:nvPicPr>
        <p:blipFill>
          <a:blip r:embed="rId4"/>
          <a:stretch>
            <a:fillRect/>
          </a:stretch>
        </p:blipFill>
        <p:spPr>
          <a:xfrm>
            <a:off x="3392658" y="3363584"/>
            <a:ext cx="3614739" cy="290071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4F27E4E-FAC1-1C8B-0EB9-A6ED96BC4E6A}"/>
                  </a:ext>
                </a:extLst>
              </p:cNvPr>
              <p:cNvSpPr txBox="1"/>
              <p:nvPr/>
            </p:nvSpPr>
            <p:spPr>
              <a:xfrm>
                <a:off x="556329" y="4572000"/>
                <a:ext cx="2796471" cy="369332"/>
              </a:xfrm>
              <a:prstGeom prst="rect">
                <a:avLst/>
              </a:prstGeom>
              <a:noFill/>
            </p:spPr>
            <p:txBody>
              <a:bodyPr wrap="none" rtlCol="0">
                <a:spAutoFit/>
              </a:bodyPr>
              <a:lstStyle/>
              <a:p>
                <a:r>
                  <a:rPr lang="es-ES" dirty="0"/>
                  <a:t>Delay </a:t>
                </a:r>
                <a:r>
                  <a:rPr lang="es-ES" dirty="0" err="1"/>
                  <a:t>imbalance</a:t>
                </a:r>
                <a:r>
                  <a:rPr lang="es-ES" dirty="0"/>
                  <a:t> </a:t>
                </a:r>
                <a:r>
                  <a:rPr lang="es-ES" dirty="0" err="1"/>
                  <a:t>with</a:t>
                </a:r>
                <a:r>
                  <a:rPr lang="es-ES" dirty="0"/>
                  <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γ</m:t>
                    </m:r>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0</m:t>
                    </m:r>
                  </m:oMath>
                </a14:m>
                <a:endParaRPr lang="es-ES" dirty="0"/>
              </a:p>
            </p:txBody>
          </p:sp>
        </mc:Choice>
        <mc:Fallback xmlns="">
          <p:sp>
            <p:nvSpPr>
              <p:cNvPr id="17" name="CuadroTexto 16">
                <a:extLst>
                  <a:ext uri="{FF2B5EF4-FFF2-40B4-BE49-F238E27FC236}">
                    <a16:creationId xmlns:a16="http://schemas.microsoft.com/office/drawing/2014/main" id="{04F27E4E-FAC1-1C8B-0EB9-A6ED96BC4E6A}"/>
                  </a:ext>
                </a:extLst>
              </p:cNvPr>
              <p:cNvSpPr txBox="1">
                <a:spLocks noRot="1" noChangeAspect="1" noMove="1" noResize="1" noEditPoints="1" noAdjustHandles="1" noChangeArrowheads="1" noChangeShapeType="1" noTextEdit="1"/>
              </p:cNvSpPr>
              <p:nvPr/>
            </p:nvSpPr>
            <p:spPr>
              <a:xfrm>
                <a:off x="556329" y="4572000"/>
                <a:ext cx="2796471" cy="369332"/>
              </a:xfrm>
              <a:prstGeom prst="rect">
                <a:avLst/>
              </a:prstGeom>
              <a:blipFill>
                <a:blip r:embed="rId5"/>
                <a:stretch>
                  <a:fillRect l="-1743" t="-8197" b="-24590"/>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01186CC6-1DB5-7B8C-1001-C4BCA0858DE4}"/>
              </a:ext>
            </a:extLst>
          </p:cNvPr>
          <p:cNvSpPr txBox="1"/>
          <p:nvPr/>
        </p:nvSpPr>
        <p:spPr>
          <a:xfrm>
            <a:off x="7315200" y="685800"/>
            <a:ext cx="4648200" cy="1477328"/>
          </a:xfrm>
          <a:prstGeom prst="rect">
            <a:avLst/>
          </a:prstGeom>
          <a:noFill/>
        </p:spPr>
        <p:txBody>
          <a:bodyPr wrap="square" rtlCol="0">
            <a:spAutoFit/>
          </a:bodyPr>
          <a:lstStyle/>
          <a:p>
            <a:r>
              <a:rPr lang="es-ES" dirty="0"/>
              <a:t>Al aplicar al caso de </a:t>
            </a:r>
            <a:r>
              <a:rPr lang="es-ES" dirty="0" err="1"/>
              <a:t>delay</a:t>
            </a:r>
            <a:r>
              <a:rPr lang="es-ES" dirty="0"/>
              <a:t> </a:t>
            </a:r>
            <a:r>
              <a:rPr lang="es-ES" dirty="0" err="1"/>
              <a:t>imbalance</a:t>
            </a:r>
            <a:r>
              <a:rPr lang="es-ES" dirty="0"/>
              <a:t> pérdidas de propagación (0.1 por brazo) podemos observar como el máximo y el mínimo de potencia a la salida de cada brazo ha variado. Ya no hay 1 de máximo ni 0 de mínimo.</a:t>
            </a:r>
          </a:p>
        </p:txBody>
      </p:sp>
      <p:sp>
        <p:nvSpPr>
          <p:cNvPr id="3" name="CuadroTexto 2">
            <a:extLst>
              <a:ext uri="{FF2B5EF4-FFF2-40B4-BE49-F238E27FC236}">
                <a16:creationId xmlns:a16="http://schemas.microsoft.com/office/drawing/2014/main" id="{2F0BA748-0A00-64FB-9381-3F0195172BA0}"/>
              </a:ext>
            </a:extLst>
          </p:cNvPr>
          <p:cNvSpPr txBox="1"/>
          <p:nvPr/>
        </p:nvSpPr>
        <p:spPr>
          <a:xfrm>
            <a:off x="7239000" y="3657600"/>
            <a:ext cx="4648200" cy="1477328"/>
          </a:xfrm>
          <a:prstGeom prst="rect">
            <a:avLst/>
          </a:prstGeom>
          <a:noFill/>
        </p:spPr>
        <p:txBody>
          <a:bodyPr wrap="square" rtlCol="0">
            <a:spAutoFit/>
          </a:bodyPr>
          <a:lstStyle/>
          <a:p>
            <a:r>
              <a:rPr lang="es-ES" dirty="0"/>
              <a:t>Al aplicar </a:t>
            </a:r>
            <a:r>
              <a:rPr lang="es-ES" dirty="0" err="1"/>
              <a:t>excess</a:t>
            </a:r>
            <a:r>
              <a:rPr lang="es-ES" dirty="0"/>
              <a:t> </a:t>
            </a:r>
            <a:r>
              <a:rPr lang="es-ES" dirty="0" err="1"/>
              <a:t>losses</a:t>
            </a:r>
            <a:r>
              <a:rPr lang="es-ES" dirty="0"/>
              <a:t> podemos ver que a la salida de los brazos el mínimo se mantiene igual, sin embargo, el máximo ha disminuido bastante, perdiendo bastante potencia por el camino. </a:t>
            </a:r>
          </a:p>
        </p:txBody>
      </p:sp>
    </p:spTree>
    <p:extLst>
      <p:ext uri="{BB962C8B-B14F-4D97-AF65-F5344CB8AC3E}">
        <p14:creationId xmlns:p14="http://schemas.microsoft.com/office/powerpoint/2010/main" val="247129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D4EF4A5-FC67-E62F-E3BF-85ED197F5416}"/>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4822DAA1-F38E-0C49-6D30-270E94830266}"/>
              </a:ext>
            </a:extLst>
          </p:cNvPr>
          <p:cNvSpPr>
            <a:spLocks noGrp="1"/>
          </p:cNvSpPr>
          <p:nvPr>
            <p:ph type="sldNum" sz="quarter" idx="7"/>
          </p:nvPr>
        </p:nvSpPr>
        <p:spPr/>
        <p:txBody>
          <a:bodyPr/>
          <a:lstStyle/>
          <a:p>
            <a:fld id="{B6F15528-21DE-4FAA-801E-634DDDAF4B2B}" type="slidenum">
              <a:rPr lang="ca-ES" smtClean="0"/>
              <a:t>7</a:t>
            </a:fld>
            <a:endParaRPr lang="ca-ES"/>
          </a:p>
        </p:txBody>
      </p:sp>
      <p:pic>
        <p:nvPicPr>
          <p:cNvPr id="19" name="Imagen 18" descr="Gráfico, Gráfico de líneas&#10;&#10;El contenido generado por IA puede ser incorrecto.">
            <a:extLst>
              <a:ext uri="{FF2B5EF4-FFF2-40B4-BE49-F238E27FC236}">
                <a16:creationId xmlns:a16="http://schemas.microsoft.com/office/drawing/2014/main" id="{54BE6269-C8DC-EAD2-9DDA-BB6475010054}"/>
              </a:ext>
            </a:extLst>
          </p:cNvPr>
          <p:cNvPicPr>
            <a:picLocks noChangeAspect="1"/>
          </p:cNvPicPr>
          <p:nvPr/>
        </p:nvPicPr>
        <p:blipFill>
          <a:blip r:embed="rId2"/>
          <a:stretch>
            <a:fillRect/>
          </a:stretch>
        </p:blipFill>
        <p:spPr>
          <a:xfrm>
            <a:off x="4419600" y="1066799"/>
            <a:ext cx="4191000" cy="3310599"/>
          </a:xfrm>
          <a:prstGeom prst="rect">
            <a:avLst/>
          </a:prstGeom>
        </p:spPr>
      </p:pic>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9F50F716-1546-4A20-C68F-8D43FB300B07}"/>
                  </a:ext>
                </a:extLst>
              </p:cNvPr>
              <p:cNvSpPr txBox="1"/>
              <p:nvPr/>
            </p:nvSpPr>
            <p:spPr>
              <a:xfrm>
                <a:off x="685800" y="2352767"/>
                <a:ext cx="3900055" cy="369332"/>
              </a:xfrm>
              <a:prstGeom prst="rect">
                <a:avLst/>
              </a:prstGeom>
              <a:noFill/>
            </p:spPr>
            <p:txBody>
              <a:bodyPr wrap="square">
                <a:spAutoFit/>
              </a:bodyPr>
              <a:lstStyle/>
              <a:p>
                <a:r>
                  <a:rPr lang="es-ES" dirty="0"/>
                  <a:t>Delay </a:t>
                </a:r>
                <a:r>
                  <a:rPr lang="es-ES" dirty="0" err="1"/>
                  <a:t>imbalance</a:t>
                </a:r>
                <a:r>
                  <a:rPr lang="es-ES" dirty="0"/>
                  <a:t> </a:t>
                </a:r>
                <a:r>
                  <a:rPr lang="es-ES" dirty="0" err="1"/>
                  <a:t>with</a:t>
                </a:r>
                <a:r>
                  <a:rPr lang="es-ES" dirty="0"/>
                  <a:t> </a:t>
                </a:r>
                <a14:m>
                  <m:oMath xmlns:m="http://schemas.openxmlformats.org/officeDocument/2006/math">
                    <m:r>
                      <a:rPr lang="es-ES" i="1" smtClean="0">
                        <a:latin typeface="Cambria Math" panose="02040503050406030204" pitchFamily="18" charset="0"/>
                        <a:ea typeface="Cambria Math" panose="02040503050406030204" pitchFamily="18" charset="0"/>
                      </a:rPr>
                      <m:t>𝛼</m:t>
                    </m:r>
                    <m:r>
                      <a:rPr lang="es-ES" i="1" smtClean="0">
                        <a:latin typeface="Cambria Math" panose="02040503050406030204" pitchFamily="18" charset="0"/>
                        <a:ea typeface="Cambria Math" panose="02040503050406030204" pitchFamily="18" charset="0"/>
                      </a:rPr>
                      <m:t>≠0 </m:t>
                    </m:r>
                  </m:oMath>
                </a14:m>
                <a:r>
                  <a:rPr lang="es-ES" dirty="0"/>
                  <a:t>and </a:t>
                </a:r>
                <a14:m>
                  <m:oMath xmlns:m="http://schemas.openxmlformats.org/officeDocument/2006/math">
                    <m:r>
                      <m:rPr>
                        <m:sty m:val="p"/>
                      </m:rPr>
                      <a:rPr lang="el-GR" i="1">
                        <a:latin typeface="Cambria Math" panose="02040503050406030204" pitchFamily="18" charset="0"/>
                        <a:ea typeface="Cambria Math" panose="02040503050406030204" pitchFamily="18" charset="0"/>
                      </a:rPr>
                      <m:t>γ</m:t>
                    </m:r>
                    <m:r>
                      <a:rPr lang="es-ES" i="1">
                        <a:latin typeface="Cambria Math" panose="02040503050406030204" pitchFamily="18" charset="0"/>
                        <a:ea typeface="Cambria Math" panose="02040503050406030204" pitchFamily="18" charset="0"/>
                      </a:rPr>
                      <m:t>≠0</m:t>
                    </m:r>
                  </m:oMath>
                </a14:m>
                <a:r>
                  <a:rPr lang="es-ES" dirty="0"/>
                  <a:t> </a:t>
                </a:r>
              </a:p>
            </p:txBody>
          </p:sp>
        </mc:Choice>
        <mc:Fallback xmlns="">
          <p:sp>
            <p:nvSpPr>
              <p:cNvPr id="8" name="CuadroTexto 7">
                <a:extLst>
                  <a:ext uri="{FF2B5EF4-FFF2-40B4-BE49-F238E27FC236}">
                    <a16:creationId xmlns:a16="http://schemas.microsoft.com/office/drawing/2014/main" id="{9F50F716-1546-4A20-C68F-8D43FB300B07}"/>
                  </a:ext>
                </a:extLst>
              </p:cNvPr>
              <p:cNvSpPr txBox="1">
                <a:spLocks noRot="1" noChangeAspect="1" noMove="1" noResize="1" noEditPoints="1" noAdjustHandles="1" noChangeArrowheads="1" noChangeShapeType="1" noTextEdit="1"/>
              </p:cNvSpPr>
              <p:nvPr/>
            </p:nvSpPr>
            <p:spPr>
              <a:xfrm>
                <a:off x="685800" y="2352767"/>
                <a:ext cx="3900055" cy="369332"/>
              </a:xfrm>
              <a:prstGeom prst="rect">
                <a:avLst/>
              </a:prstGeom>
              <a:blipFill>
                <a:blip r:embed="rId3"/>
                <a:stretch>
                  <a:fillRect l="-1408" t="-9836" b="-24590"/>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A4FC6D38-87A8-5217-D740-09B923E27D20}"/>
              </a:ext>
            </a:extLst>
          </p:cNvPr>
          <p:cNvSpPr txBox="1"/>
          <p:nvPr/>
        </p:nvSpPr>
        <p:spPr>
          <a:xfrm>
            <a:off x="609600" y="4495800"/>
            <a:ext cx="10896600" cy="646331"/>
          </a:xfrm>
          <a:prstGeom prst="rect">
            <a:avLst/>
          </a:prstGeom>
          <a:noFill/>
        </p:spPr>
        <p:txBody>
          <a:bodyPr wrap="square" rtlCol="0">
            <a:spAutoFit/>
          </a:bodyPr>
          <a:lstStyle/>
          <a:p>
            <a:r>
              <a:rPr lang="es-ES" dirty="0"/>
              <a:t>Al aplicar tanto pérdidas de propagación como </a:t>
            </a:r>
            <a:r>
              <a:rPr lang="es-ES" dirty="0" err="1"/>
              <a:t>excess</a:t>
            </a:r>
            <a:r>
              <a:rPr lang="es-ES" dirty="0"/>
              <a:t> </a:t>
            </a:r>
            <a:r>
              <a:rPr lang="es-ES" dirty="0" err="1"/>
              <a:t>losses</a:t>
            </a:r>
            <a:r>
              <a:rPr lang="es-ES" dirty="0"/>
              <a:t>, como se puede esperar, se acumulan los dos tipos de pérdidas, resultando en máximos de no  llega ni a 0.35 y mínimos que no alcanzan el 0.  </a:t>
            </a:r>
          </a:p>
        </p:txBody>
      </p:sp>
    </p:spTree>
    <p:extLst>
      <p:ext uri="{BB962C8B-B14F-4D97-AF65-F5344CB8AC3E}">
        <p14:creationId xmlns:p14="http://schemas.microsoft.com/office/powerpoint/2010/main" val="89477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8</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3" y="1295400"/>
                <a:ext cx="5868988"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Considering the n_{eff} values for the SOI cross-section, what would be the path difference (</a:t>
                </a:r>
                <a14:m>
                  <m:oMath xmlns:m="http://schemas.openxmlformats.org/officeDocument/2006/math">
                    <m:r>
                      <m:rPr>
                        <m:sty m:val="p"/>
                      </m:rPr>
                      <a:rPr lang="es-ES" sz="2000" b="0" i="0" smtClean="0">
                        <a:latin typeface="Cambria Math" panose="02040503050406030204" pitchFamily="18" charset="0"/>
                      </a:rPr>
                      <m:t>ΔL</m:t>
                    </m:r>
                    <m:r>
                      <a:rPr lang="es-ES" sz="2000" b="0" i="1" smtClean="0">
                        <a:latin typeface="Cambria Math" panose="02040503050406030204" pitchFamily="18" charset="0"/>
                      </a:rPr>
                      <m:t>= </m:t>
                    </m:r>
                    <m:sSub>
                      <m:sSubPr>
                        <m:ctrlPr>
                          <a:rPr lang="es-ES" sz="200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𝑢</m:t>
                        </m:r>
                      </m:sub>
                    </m:sSub>
                    <m:r>
                      <a:rPr lang="es-ES" sz="2000" b="0" i="1" smtClean="0">
                        <a:latin typeface="Cambria Math" panose="02040503050406030204" pitchFamily="18" charset="0"/>
                      </a:rPr>
                      <m:t> −</m:t>
                    </m:r>
                    <m:sSub>
                      <m:sSubPr>
                        <m:ctrlPr>
                          <a:rPr lang="es-ES" sz="2000" i="1">
                            <a:latin typeface="Cambria Math" panose="02040503050406030204" pitchFamily="18" charset="0"/>
                          </a:rPr>
                        </m:ctrlPr>
                      </m:sSubPr>
                      <m:e>
                        <m:r>
                          <a:rPr lang="es-ES" sz="2000" b="0" i="1">
                            <a:latin typeface="Cambria Math" panose="02040503050406030204" pitchFamily="18" charset="0"/>
                          </a:rPr>
                          <m:t>𝐿</m:t>
                        </m:r>
                      </m:e>
                      <m:sub>
                        <m:r>
                          <a:rPr lang="es-ES" sz="2000" b="0" i="1" smtClean="0">
                            <a:latin typeface="Cambria Math" panose="02040503050406030204" pitchFamily="18" charset="0"/>
                          </a:rPr>
                          <m:t>𝑑</m:t>
                        </m:r>
                      </m:sub>
                    </m:sSub>
                  </m:oMath>
                </a14:m>
                <a:r>
                  <a:rPr lang="en-US" sz="2000" dirty="0"/>
                  <a:t>) needed to obtain a Free Spectral Range of 40 nm? Introduce the obtained value in the model to check the MZI response. </a:t>
                </a:r>
              </a:p>
              <a:p>
                <a:endParaRPr lang="en-US" sz="2000" dirty="0"/>
              </a:p>
              <a:p>
                <a:r>
                  <a:rPr lang="en-US" sz="2000" dirty="0"/>
                  <a:t>Hint: We assume 1550 nm as the central design wavelength (</a:t>
                </a:r>
                <a14:m>
                  <m:oMath xmlns:m="http://schemas.openxmlformats.org/officeDocument/2006/math">
                    <m:sSub>
                      <m:sSubPr>
                        <m:ctrlPr>
                          <a:rPr lang="es-ES" sz="2000" i="1" smtClean="0">
                            <a:latin typeface="Cambria Math" panose="02040503050406030204" pitchFamily="18" charset="0"/>
                          </a:rPr>
                        </m:ctrlPr>
                      </m:sSubPr>
                      <m:e>
                        <m:r>
                          <a:rPr lang="es-ES" sz="2000" i="1">
                            <a:latin typeface="Cambria Math" panose="02040503050406030204" pitchFamily="18" charset="0"/>
                          </a:rPr>
                          <m:t>𝜆</m:t>
                        </m:r>
                      </m:e>
                      <m:sub>
                        <m:r>
                          <a:rPr lang="es-ES" sz="2000" b="0" i="1" smtClean="0">
                            <a:latin typeface="Cambria Math" panose="02040503050406030204" pitchFamily="18" charset="0"/>
                          </a:rPr>
                          <m:t>0</m:t>
                        </m:r>
                      </m:sub>
                    </m:sSub>
                    <m:r>
                      <a:rPr lang="es-ES" sz="2000" b="0" i="1" smtClean="0">
                        <a:latin typeface="Cambria Math" panose="02040503050406030204" pitchFamily="18" charset="0"/>
                      </a:rPr>
                      <m:t>= </m:t>
                    </m:r>
                  </m:oMath>
                </a14:m>
                <a:r>
                  <a:rPr lang="en-US" sz="2000"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3" y="1295400"/>
                <a:ext cx="5868988" cy="4958137"/>
              </a:xfrm>
              <a:prstGeom prst="rect">
                <a:avLst/>
              </a:prstGeom>
              <a:blipFill>
                <a:blip r:embed="rId6"/>
                <a:stretch>
                  <a:fillRect l="-1142" t="-738"/>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CFDBBA6B-3646-055F-7A9C-EE01830137BE}"/>
                  </a:ext>
                </a:extLst>
              </p:cNvPr>
              <p:cNvSpPr txBox="1"/>
              <p:nvPr/>
            </p:nvSpPr>
            <p:spPr>
              <a:xfrm>
                <a:off x="609441" y="4860334"/>
                <a:ext cx="11199971" cy="15300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r>
                  <a:rPr lang="en-US" sz="1200" dirty="0">
                    <a:latin typeface="Arial" panose="020B0604020202020204" pitchFamily="34" charset="0"/>
                    <a:cs typeface="Arial" panose="020B0604020202020204" pitchFamily="34" charset="0"/>
                  </a:rPr>
                  <a:t>El Código </a:t>
                </a:r>
                <a:r>
                  <a:rPr lang="en-US" sz="1200" dirty="0" err="1">
                    <a:latin typeface="Arial" panose="020B0604020202020204" pitchFamily="34" charset="0"/>
                    <a:cs typeface="Arial" panose="020B0604020202020204" pitchFamily="34" charset="0"/>
                  </a:rPr>
                  <a:t>usado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camino </a:t>
                </a:r>
                <a:r>
                  <a:rPr lang="en-US" sz="1200" dirty="0" err="1">
                    <a:latin typeface="Arial" panose="020B0604020202020204" pitchFamily="34" charset="0"/>
                    <a:cs typeface="Arial" panose="020B0604020202020204" pitchFamily="34" charset="0"/>
                  </a:rPr>
                  <a:t>necesaria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conseguir</a:t>
                </a:r>
                <a:r>
                  <a:rPr lang="en-US" sz="1200" dirty="0">
                    <a:latin typeface="Arial" panose="020B0604020202020204" pitchFamily="34" charset="0"/>
                    <a:cs typeface="Arial" panose="020B0604020202020204" pitchFamily="34" charset="0"/>
                  </a:rPr>
                  <a:t> un FSR de 40nm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jupyter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compartido</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ello</a:t>
                </a:r>
                <a:r>
                  <a:rPr lang="en-US" sz="1200" dirty="0">
                    <a:latin typeface="Arial" panose="020B0604020202020204" pitchFamily="34" charset="0"/>
                    <a:cs typeface="Arial" panose="020B0604020202020204" pitchFamily="34" charset="0"/>
                  </a:rPr>
                  <a:t> he </a:t>
                </a:r>
                <a:r>
                  <a:rPr lang="en-US" sz="1200" dirty="0" err="1">
                    <a:latin typeface="Arial" panose="020B0604020202020204" pitchFamily="34" charset="0"/>
                    <a:cs typeface="Arial" panose="020B0604020202020204" pitchFamily="34" charset="0"/>
                  </a:rPr>
                  <a:t>obtenido</a:t>
                </a:r>
                <a:r>
                  <a:rPr lang="en-US" sz="1200" dirty="0">
                    <a:latin typeface="Arial" panose="020B0604020202020204" pitchFamily="34" charset="0"/>
                    <a:cs typeface="Arial" panose="020B0604020202020204" pitchFamily="34" charset="0"/>
                  </a:rPr>
                  <a:t> primero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grupo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fórmula</a:t>
                </a:r>
                <a:r>
                  <a:rPr lang="en-US" sz="1200" dirty="0">
                    <a:latin typeface="Arial" panose="020B0604020202020204" pitchFamily="34" charset="0"/>
                    <a:cs typeface="Arial" panose="020B0604020202020204" pitchFamily="34" charset="0"/>
                  </a:rPr>
                  <a:t> y he </a:t>
                </a:r>
                <a:r>
                  <a:rPr lang="en-US" sz="1200" dirty="0" err="1">
                    <a:latin typeface="Arial" panose="020B0604020202020204" pitchFamily="34" charset="0"/>
                    <a:cs typeface="Arial" panose="020B0604020202020204" pitchFamily="34" charset="0"/>
                  </a:rPr>
                  <a:t>usado</a:t>
                </a:r>
                <a:r>
                  <a:rPr lang="en-U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b="0" i="0" smtClean="0">
                        <a:latin typeface="Cambria Math" panose="02040503050406030204" pitchFamily="18" charset="0"/>
                        <a:cs typeface="Arial" panose="020B0604020202020204" pitchFamily="34" charset="0"/>
                      </a:rPr>
                      <m:t>FSR</m:t>
                    </m:r>
                    <m:r>
                      <a:rPr lang="es-ES" sz="1200" b="0" i="0" smtClean="0">
                        <a:latin typeface="Cambria Math" panose="02040503050406030204" pitchFamily="18" charset="0"/>
                        <a:cs typeface="Arial" panose="020B0604020202020204" pitchFamily="34" charset="0"/>
                      </a:rPr>
                      <m:t>=</m:t>
                    </m:r>
                    <m:f>
                      <m:fPr>
                        <m:ctrlPr>
                          <a:rPr lang="en-US" sz="1200" i="1" smtClean="0">
                            <a:latin typeface="Cambria Math" panose="02040503050406030204" pitchFamily="18" charset="0"/>
                            <a:cs typeface="Arial" panose="020B0604020202020204" pitchFamily="34" charset="0"/>
                          </a:rPr>
                        </m:ctrlPr>
                      </m:fPr>
                      <m:num>
                        <m:sSup>
                          <m:sSupPr>
                            <m:ctrlPr>
                              <a:rPr lang="en-US" sz="1200" i="1" smtClean="0">
                                <a:latin typeface="Cambria Math" panose="02040503050406030204" pitchFamily="18" charset="0"/>
                                <a:cs typeface="Arial" panose="020B0604020202020204" pitchFamily="34" charset="0"/>
                              </a:rPr>
                            </m:ctrlPr>
                          </m:sSupPr>
                          <m:e>
                            <m:r>
                              <a:rPr lang="en-US" sz="1200" i="1" smtClean="0">
                                <a:latin typeface="Cambria Math" panose="02040503050406030204" pitchFamily="18" charset="0"/>
                                <a:ea typeface="Cambria Math" panose="02040503050406030204" pitchFamily="18" charset="0"/>
                                <a:cs typeface="Arial" panose="020B0604020202020204" pitchFamily="34" charset="0"/>
                              </a:rPr>
                              <m:t>𝜆</m:t>
                            </m:r>
                          </m:e>
                          <m:sup>
                            <m:r>
                              <a:rPr lang="es-ES" sz="1200" b="0" i="1" smtClean="0">
                                <a:latin typeface="Cambria Math" panose="02040503050406030204" pitchFamily="18" charset="0"/>
                                <a:cs typeface="Arial" panose="020B0604020202020204" pitchFamily="34" charset="0"/>
                              </a:rPr>
                              <m:t>2</m:t>
                            </m:r>
                          </m:sup>
                        </m:sSup>
                      </m:num>
                      <m:den>
                        <m:sSub>
                          <m:sSubPr>
                            <m:ctrlPr>
                              <a:rPr lang="en-US" sz="120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m:rPr>
                            <m:sty m:val="p"/>
                          </m:rPr>
                          <a:rPr lang="el-GR" sz="1200" i="1" smtClean="0">
                            <a:latin typeface="Cambria Math" panose="02040503050406030204" pitchFamily="18" charset="0"/>
                            <a:ea typeface="Cambria Math" panose="02040503050406030204" pitchFamily="18" charset="0"/>
                            <a:cs typeface="Arial" panose="020B0604020202020204" pitchFamily="34" charset="0"/>
                          </a:rPr>
                          <m:t>Δ</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den>
                    </m:f>
                  </m:oMath>
                </a14:m>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despejando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ahí</a:t>
                </a:r>
                <a:r>
                  <a:rPr lang="en-U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a:latin typeface="Cambria Math" panose="02040503050406030204" pitchFamily="18" charset="0"/>
                      </a:rPr>
                      <m:t>ΔL</m:t>
                    </m:r>
                  </m:oMath>
                </a14:m>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CFDBBA6B-3646-055F-7A9C-EE01830137BE}"/>
                  </a:ext>
                </a:extLst>
              </p:cNvPr>
              <p:cNvSpPr txBox="1">
                <a:spLocks noRot="1" noChangeAspect="1" noMove="1" noResize="1" noEditPoints="1" noAdjustHandles="1" noChangeArrowheads="1" noChangeShapeType="1" noTextEdit="1"/>
              </p:cNvSpPr>
              <p:nvPr/>
            </p:nvSpPr>
            <p:spPr>
              <a:xfrm>
                <a:off x="609441" y="4860334"/>
                <a:ext cx="11199971" cy="1530099"/>
              </a:xfrm>
              <a:prstGeom prst="rect">
                <a:avLst/>
              </a:prstGeom>
              <a:blipFill>
                <a:blip r:embed="rId7"/>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
        <p:nvSpPr>
          <p:cNvPr id="6" name="CuadroTexto 5">
            <a:extLst>
              <a:ext uri="{FF2B5EF4-FFF2-40B4-BE49-F238E27FC236}">
                <a16:creationId xmlns:a16="http://schemas.microsoft.com/office/drawing/2014/main" id="{A3F46DEB-60D7-3422-5DC1-0AEC9E93B361}"/>
              </a:ext>
            </a:extLst>
          </p:cNvPr>
          <p:cNvSpPr txBox="1"/>
          <p:nvPr/>
        </p:nvSpPr>
        <p:spPr>
          <a:xfrm>
            <a:off x="7010400" y="4273950"/>
            <a:ext cx="4942195" cy="584775"/>
          </a:xfrm>
          <a:prstGeom prst="rect">
            <a:avLst/>
          </a:prstGeom>
          <a:noFill/>
        </p:spPr>
        <p:txBody>
          <a:bodyPr wrap="square">
            <a:spAutoFit/>
          </a:bodyPr>
          <a:lstStyle/>
          <a:p>
            <a:r>
              <a:rPr lang="en-US" sz="1600" b="1" i="0" dirty="0">
                <a:effectLst/>
                <a:latin typeface="Consolas" panose="020B0609020204030204" pitchFamily="49" charset="0"/>
              </a:rPr>
              <a:t>Group index at 1550 nm: 4.29327</a:t>
            </a:r>
          </a:p>
          <a:p>
            <a:r>
              <a:rPr lang="en-US" sz="1600" b="1" i="0" dirty="0">
                <a:effectLst/>
                <a:latin typeface="Consolas" panose="020B0609020204030204" pitchFamily="49" charset="0"/>
              </a:rPr>
              <a:t> Required Delta L (um): 13.989919105949546</a:t>
            </a:r>
            <a:endParaRPr lang="es-ES" sz="1600" b="1" dirty="0"/>
          </a:p>
        </p:txBody>
      </p:sp>
      <p:pic>
        <p:nvPicPr>
          <p:cNvPr id="8" name="Imagen 7" descr="Gráfico, Gráfico de líneas&#10;&#10;El contenido generado por IA puede ser incorrecto.">
            <a:extLst>
              <a:ext uri="{FF2B5EF4-FFF2-40B4-BE49-F238E27FC236}">
                <a16:creationId xmlns:a16="http://schemas.microsoft.com/office/drawing/2014/main" id="{586ED3A2-56CC-32AC-38FC-640E5DB48819}"/>
              </a:ext>
            </a:extLst>
          </p:cNvPr>
          <p:cNvPicPr>
            <a:picLocks noChangeAspect="1"/>
          </p:cNvPicPr>
          <p:nvPr/>
        </p:nvPicPr>
        <p:blipFill>
          <a:blip r:embed="rId8"/>
          <a:stretch>
            <a:fillRect/>
          </a:stretch>
        </p:blipFill>
        <p:spPr>
          <a:xfrm>
            <a:off x="6781800" y="769997"/>
            <a:ext cx="4434945" cy="3558906"/>
          </a:xfrm>
          <a:prstGeom prst="rect">
            <a:avLst/>
          </a:prstGeom>
        </p:spPr>
      </p:pic>
    </p:spTree>
    <p:extLst>
      <p:ext uri="{BB962C8B-B14F-4D97-AF65-F5344CB8AC3E}">
        <p14:creationId xmlns:p14="http://schemas.microsoft.com/office/powerpoint/2010/main" val="2337098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Código </a:t>
            </a:r>
            <a:r>
              <a:rPr lang="en-US" sz="1200" dirty="0" err="1">
                <a:latin typeface="Arial" panose="020B0604020202020204" pitchFamily="34" charset="0"/>
                <a:cs typeface="Arial" panose="020B0604020202020204" pitchFamily="34" charset="0"/>
              </a:rPr>
              <a:t>entrar</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jupyter</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A24CE9A9-30F5-C63C-A3CF-F5948505D163}"/>
              </a:ext>
            </a:extLst>
          </p:cNvPr>
          <p:cNvPicPr>
            <a:picLocks noChangeAspect="1"/>
          </p:cNvPicPr>
          <p:nvPr/>
        </p:nvPicPr>
        <p:blipFill>
          <a:blip r:embed="rId5"/>
          <a:stretch>
            <a:fillRect/>
          </a:stretch>
        </p:blipFill>
        <p:spPr>
          <a:xfrm>
            <a:off x="7616384" y="1570223"/>
            <a:ext cx="4176864" cy="3153647"/>
          </a:xfrm>
          <a:prstGeom prst="rect">
            <a:avLst/>
          </a:prstGeom>
        </p:spPr>
      </p:pic>
    </p:spTree>
    <p:extLst>
      <p:ext uri="{BB962C8B-B14F-4D97-AF65-F5344CB8AC3E}">
        <p14:creationId xmlns:p14="http://schemas.microsoft.com/office/powerpoint/2010/main" val="3666436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76C0B773-0D86-763C-18D1-D3BE00E717A7}"/>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EC814798-D4B8-35C5-78FF-FD55FD483DA9}"/>
              </a:ext>
            </a:extLst>
          </p:cNvPr>
          <p:cNvSpPr>
            <a:spLocks noGrp="1"/>
          </p:cNvSpPr>
          <p:nvPr>
            <p:ph type="sldNum" sz="quarter" idx="7"/>
          </p:nvPr>
        </p:nvSpPr>
        <p:spPr/>
        <p:txBody>
          <a:bodyPr/>
          <a:lstStyle/>
          <a:p>
            <a:fld id="{B6F15528-21DE-4FAA-801E-634DDDAF4B2B}" type="slidenum">
              <a:rPr lang="ca-ES" smtClean="0"/>
              <a:t>11</a:t>
            </a:fld>
            <a:endParaRPr lang="ca-ES"/>
          </a:p>
        </p:txBody>
      </p:sp>
      <p:pic>
        <p:nvPicPr>
          <p:cNvPr id="8" name="Imagen 7">
            <a:extLst>
              <a:ext uri="{FF2B5EF4-FFF2-40B4-BE49-F238E27FC236}">
                <a16:creationId xmlns:a16="http://schemas.microsoft.com/office/drawing/2014/main" id="{9E71ED83-D03C-4606-B34F-9B390DF39D41}"/>
              </a:ext>
            </a:extLst>
          </p:cNvPr>
          <p:cNvPicPr>
            <a:picLocks noChangeAspect="1"/>
          </p:cNvPicPr>
          <p:nvPr/>
        </p:nvPicPr>
        <p:blipFill>
          <a:blip r:embed="rId2"/>
          <a:stretch>
            <a:fillRect/>
          </a:stretch>
        </p:blipFill>
        <p:spPr>
          <a:xfrm>
            <a:off x="838200" y="1066800"/>
            <a:ext cx="4440633" cy="3352800"/>
          </a:xfrm>
          <a:prstGeom prst="rect">
            <a:avLst/>
          </a:prstGeom>
        </p:spPr>
      </p:pic>
      <p:pic>
        <p:nvPicPr>
          <p:cNvPr id="10" name="Imagen 9">
            <a:extLst>
              <a:ext uri="{FF2B5EF4-FFF2-40B4-BE49-F238E27FC236}">
                <a16:creationId xmlns:a16="http://schemas.microsoft.com/office/drawing/2014/main" id="{D23EBCC3-0B77-966A-82D8-0D1C02DB62D8}"/>
              </a:ext>
            </a:extLst>
          </p:cNvPr>
          <p:cNvPicPr>
            <a:picLocks noChangeAspect="1"/>
          </p:cNvPicPr>
          <p:nvPr/>
        </p:nvPicPr>
        <p:blipFill>
          <a:blip r:embed="rId3"/>
          <a:stretch>
            <a:fillRect/>
          </a:stretch>
        </p:blipFill>
        <p:spPr>
          <a:xfrm>
            <a:off x="5867400" y="1066800"/>
            <a:ext cx="4524728" cy="3352800"/>
          </a:xfrm>
          <a:prstGeom prst="rect">
            <a:avLst/>
          </a:prstGeom>
        </p:spPr>
      </p:pic>
      <p:sp>
        <p:nvSpPr>
          <p:cNvPr id="12" name="CuadroTexto 11">
            <a:extLst>
              <a:ext uri="{FF2B5EF4-FFF2-40B4-BE49-F238E27FC236}">
                <a16:creationId xmlns:a16="http://schemas.microsoft.com/office/drawing/2014/main" id="{6EAE6D09-7E15-8B5F-8949-156F5882F636}"/>
              </a:ext>
            </a:extLst>
          </p:cNvPr>
          <p:cNvSpPr txBox="1"/>
          <p:nvPr/>
        </p:nvSpPr>
        <p:spPr>
          <a:xfrm>
            <a:off x="838200" y="309294"/>
            <a:ext cx="9372600" cy="646331"/>
          </a:xfrm>
          <a:prstGeom prst="rect">
            <a:avLst/>
          </a:prstGeom>
          <a:noFill/>
        </p:spPr>
        <p:txBody>
          <a:bodyPr wrap="square">
            <a:spAutoFit/>
          </a:bodyPr>
          <a:lstStyle/>
          <a:p>
            <a:pPr>
              <a:buNone/>
            </a:pPr>
            <a:r>
              <a:rPr lang="en-US" b="1" dirty="0">
                <a:effectLst/>
              </a:rPr>
              <a:t>Assessment 4.</a:t>
            </a:r>
            <a:r>
              <a:rPr lang="en-US" b="0" dirty="0">
                <a:effectLst/>
              </a:rPr>
              <a:t> Designing an MZI for filtering at a specific wavelength. Calculate and adjust the arm lengths to configure the MZI to have a maximum transmission at 1550 nm.</a:t>
            </a:r>
          </a:p>
        </p:txBody>
      </p:sp>
    </p:spTree>
    <p:extLst>
      <p:ext uri="{BB962C8B-B14F-4D97-AF65-F5344CB8AC3E}">
        <p14:creationId xmlns:p14="http://schemas.microsoft.com/office/powerpoint/2010/main" val="3291862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B9D7950E-C4F6-3887-A4B0-5328462B554F}"/>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07EFC10C-678A-E59D-3295-3D7FB7116450}"/>
              </a:ext>
            </a:extLst>
          </p:cNvPr>
          <p:cNvSpPr>
            <a:spLocks noGrp="1"/>
          </p:cNvSpPr>
          <p:nvPr>
            <p:ph type="sldNum" sz="quarter" idx="7"/>
          </p:nvPr>
        </p:nvSpPr>
        <p:spPr/>
        <p:txBody>
          <a:bodyPr/>
          <a:lstStyle/>
          <a:p>
            <a:fld id="{B6F15528-21DE-4FAA-801E-634DDDAF4B2B}" type="slidenum">
              <a:rPr lang="ca-ES" smtClean="0"/>
              <a:t>12</a:t>
            </a:fld>
            <a:endParaRPr lang="ca-ES"/>
          </a:p>
        </p:txBody>
      </p:sp>
      <p:sp>
        <p:nvSpPr>
          <p:cNvPr id="7" name="CuadroTexto 6">
            <a:extLst>
              <a:ext uri="{FF2B5EF4-FFF2-40B4-BE49-F238E27FC236}">
                <a16:creationId xmlns:a16="http://schemas.microsoft.com/office/drawing/2014/main" id="{A8F158EC-0A64-573D-6581-042DD12F7023}"/>
              </a:ext>
            </a:extLst>
          </p:cNvPr>
          <p:cNvSpPr txBox="1"/>
          <p:nvPr/>
        </p:nvSpPr>
        <p:spPr>
          <a:xfrm>
            <a:off x="267392" y="246295"/>
            <a:ext cx="11619807" cy="923330"/>
          </a:xfrm>
          <a:prstGeom prst="rect">
            <a:avLst/>
          </a:prstGeom>
          <a:noFill/>
        </p:spPr>
        <p:txBody>
          <a:bodyPr wrap="square">
            <a:spAutoFit/>
          </a:bodyPr>
          <a:lstStyle/>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p:txBody>
      </p:sp>
      <p:pic>
        <p:nvPicPr>
          <p:cNvPr id="3" name="Imagen 2">
            <a:extLst>
              <a:ext uri="{FF2B5EF4-FFF2-40B4-BE49-F238E27FC236}">
                <a16:creationId xmlns:a16="http://schemas.microsoft.com/office/drawing/2014/main" id="{B5E34FBF-AA15-1E81-3C9B-8AF33C8B20E8}"/>
              </a:ext>
            </a:extLst>
          </p:cNvPr>
          <p:cNvPicPr>
            <a:picLocks noChangeAspect="1"/>
          </p:cNvPicPr>
          <p:nvPr/>
        </p:nvPicPr>
        <p:blipFill>
          <a:blip r:embed="rId2"/>
          <a:stretch>
            <a:fillRect/>
          </a:stretch>
        </p:blipFill>
        <p:spPr>
          <a:xfrm>
            <a:off x="990600" y="1524000"/>
            <a:ext cx="4524375" cy="3375327"/>
          </a:xfrm>
          <a:prstGeom prst="rect">
            <a:avLst/>
          </a:prstGeom>
        </p:spPr>
      </p:pic>
    </p:spTree>
    <p:extLst>
      <p:ext uri="{BB962C8B-B14F-4D97-AF65-F5344CB8AC3E}">
        <p14:creationId xmlns:p14="http://schemas.microsoft.com/office/powerpoint/2010/main" val="2941127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2513</TotalTime>
  <Words>1175</Words>
  <Application>Microsoft Office PowerPoint</Application>
  <PresentationFormat>Panorámica</PresentationFormat>
  <Paragraphs>118</Paragraphs>
  <Slides>13</Slides>
  <Notes>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13</vt:i4>
      </vt:variant>
    </vt:vector>
  </HeadingPairs>
  <TitlesOfParts>
    <vt:vector size="22" baseType="lpstr">
      <vt:lpstr>Aptos</vt:lpstr>
      <vt:lpstr>Arial</vt:lpstr>
      <vt:lpstr>Calibri</vt:lpstr>
      <vt:lpstr>Cambria Math</vt:lpstr>
      <vt:lpstr>Consolas</vt:lpstr>
      <vt:lpstr>Courier New</vt:lpstr>
      <vt:lpstr>Lucida Sans</vt:lpstr>
      <vt:lpstr>Wingdings</vt:lpstr>
      <vt:lpstr>Office Theme</vt:lpstr>
      <vt:lpstr>Presentación de PowerPoint</vt:lpstr>
      <vt:lpstr>Instructions General</vt:lpstr>
      <vt:lpstr>ASSESSMENT #1 – Recap from theory – MZI configurations </vt:lpstr>
      <vt:lpstr>Presentación de PowerPoint</vt:lpstr>
      <vt:lpstr>Presentación de PowerPoint</vt:lpstr>
      <vt:lpstr>Presentación de PowerPoint</vt:lpstr>
      <vt:lpstr>Presentación de PowerPoint</vt:lpstr>
      <vt:lpstr>ASSESSMENT #2 – Recap from theory – Calculation of ΔL  </vt:lpstr>
      <vt:lpstr>ASSESSMENT #3 – SAX implementation  </vt:lpstr>
      <vt:lpstr>Extra assessments </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Jaume Flores Gomez</cp:lastModifiedBy>
  <cp:revision>28</cp:revision>
  <dcterms:created xsi:type="dcterms:W3CDTF">2025-01-27T02:46:57Z</dcterms:created>
  <dcterms:modified xsi:type="dcterms:W3CDTF">2026-03-23T08:51:35Z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